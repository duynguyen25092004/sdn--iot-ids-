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8B6B8B-6F53-48A4-B060-1390C02506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366435-08C5-4B7E-B11B-2F73D970CC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92512EB-A019-469E-B8FF-CF86BA10C8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A52F2D0-FAC0-4C1C-ADF6-47A3E88613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68B221E-A947-4BD2-87FA-BF2292FFF9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CF37B7A-F135-4630-9A4E-0A7A4C4501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8A3F61A-B02E-4053-8361-0FD20CD094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38188F9-736A-42D8-B0F3-85DBB99260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74FD67F-6150-47A8-85A6-6A689BF8C9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616BF59-CC0B-4E47-93BA-2368A4524B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2954F43-24A6-4188-9BF0-619977F0F5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93B0CE-D97D-4494-A1F5-664C0EEA14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543085-D701-4044-B244-0C6A854DA3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BA042B-A3FF-4307-A2F1-DEF7965B4F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8DA8EE-2F68-4AA2-B2B7-8E851E8E35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37350F-9593-42D0-B2BB-ADB84ADB99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EDD5DE-9097-49CF-97CB-C95547BB6B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086DB8-7B65-41EF-9C0D-3A09858755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1F3362-34AF-45C4-8EBE-3AAD9F8FF2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4DCC44-DF00-4D53-8794-7AE9FF6F58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820BBF-85DE-4ABB-AD44-AFE5A01A19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321CE3-B024-4E7B-917D-2D6F35C2C3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40080" y="1645920"/>
            <a:ext cx="7772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3600" spc="-1" strike="noStrike">
                <a:solidFill>
                  <a:srgbClr val="000000"/>
                </a:solidFill>
                <a:latin typeface="Calibri"/>
              </a:rPr>
              <a:t>Hệ thống phát hiện và chặn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Calibri"/>
              </a:rPr>
              <a:t>xâm nhập MQTT trên nền tảng SDN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40080" y="4023360"/>
            <a:ext cx="731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777777"/>
                </a:solidFill>
                <a:latin typeface="Calibri"/>
              </a:rPr>
              <a:t>IDS + XGBoost + Ryu Controller + Mininet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640080" y="3794760"/>
            <a:ext cx="64004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5303520"/>
            <a:ext cx="7314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777777"/>
                </a:solidFill>
                <a:latin typeface="Calibri"/>
              </a:rPr>
              <a:t>Báo cáo cuối kỳ  ·  SDN  ·  2026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0241280" y="1371600"/>
            <a:ext cx="1645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MQTT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10149840" y="1325880"/>
            <a:ext cx="1828440" cy="594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0241280" y="2148840"/>
            <a:ext cx="1645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SDN / Ryu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10149840" y="2103120"/>
            <a:ext cx="1828440" cy="594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10241280" y="2926080"/>
            <a:ext cx="1645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XGBoost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10149840" y="2880360"/>
            <a:ext cx="1828440" cy="594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10241280" y="3703320"/>
            <a:ext cx="1645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Mininet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10149840" y="3657600"/>
            <a:ext cx="1828440" cy="594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10241280" y="4480560"/>
            <a:ext cx="1645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IDS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10149840" y="4434840"/>
            <a:ext cx="1828440" cy="594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Nội dung báo cáo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Đặt vấn đề — MQTT, SDN và bài toán IDS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Mô hình AI — XGBoost, MQTTset, 16 đặc trưng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777240" y="22035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Kết quả huấn luyện — Accuracy, F1, Confusion Matrix, ROC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Triển khai hệ thống — IDS API, Traffic Capture, Ryu Controller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777240" y="308160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Topology Mininet — 8 hosts, 1 switch, 1 broker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Kịch bản tấn công — Đơn lẻ, Kill-chain, Đa kẻ tấn công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Đánh giá hệ thống — Per-class metrics, Latency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777240" y="43981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Kết luận &amp; Hướng phát triển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Đặt vấn đề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MQTT · SDN · Bài toán xâm nhập IoT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MQTT — Message Queuing Telemetry Transport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Giao thức nhắn tin nhẹ (lightweight), thiết kế cho IoT / M2M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1188720" y="17647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Mô hình Publish / Subscribe qua broker trung gian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Chạy trên TCP/IP, port mặc định 1883 (plain) / 8883 (TLS)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Chuẩn OASIS — dùng rộng rãi trong smart home, industrial IoT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777240" y="308160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Ưu điểm: nhỏ gọn (2-byte header), hỗ trợ QoS 0/1/2, retain, wildcard topics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Nhược điểm bảo mật: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1188720" y="395928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Không có xác thực bắt buộc trong spec cũ (3.1 / 3.1.1)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1188720" y="43981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Broker dễ bị DoS, brute-force, malformed packet injection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Không có encryption tích hợp — dữ liệu đi plain-text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594360" y="630936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MQTT v3.1.1 (ISO/IEC 20922)  ·  MQTT v5.0 thêm enhanced auth nhưng chưa phổ biến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SDN — Software-Defined Networking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Tách rời control plane và data plane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1188720" y="17647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Control plane: bộ điều khiển tập trung (Ryu, OpenDaylight, ONOS)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Data plane: thiết bị chuyển tiếp (OVS, switch OpenFlow)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Lợi thế cho IDS: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Cài DROP rule tức thì ở data plane → block ở wire speed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Không cần cài agent trên từng host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1188720" y="395928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Tầm nhìn toàn cục — thấy tất cả lưu lượng qua switch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777240" y="43981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Trong đề tài: Ryu controller + OVS s1 + OpenFlow 1.3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REST API /ids/block — IDS gọi để cài DROP rule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1188720" y="52761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Port mirroring eth11 — tshark bắt traffic không ảnh hưởng luồng chính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Bài toán: Xâm nhập trong mạng IoT/MQTT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5 loại tấn công cần phát hiện: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1188720" y="17647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Flood (DoS) — gửi ồ ạt PUBLISH làm broker quá tải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DoS (TCP) — flood TCP connection để cạn socket broker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Brute Force — thử hàng trăm cặp username/password CONNECT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Malformed — gói MQTT sai header, khai thác lỗ hổng parser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Slow Drip — exfiltration tốc độ thấp, ẩn trong traffic bình thường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Thách thức: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1188720" y="43981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Traffic mix — normal &amp; attack trên cùng luồng TCP port 1883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Phân loại realtime — quyết định phải trong vài giây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1188720" y="52761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Block tự động — không có người vận hành can thiệp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Mô hình AI — XGBoost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MQTTset · 16 đặc trưng · 6 lớp phân loại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Dataset — MQTTset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Nguồn: Kaggle — MQTTset (Vaccari et al., 2020)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Tổng: ~14.4M gói tin  ·  Train 8.4M / Test 6M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777240" y="22035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6 lớp nhãn: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legitimate  ·  bruteforce  ·  dos  ·  flood  ·  malformed  ·  slowite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777240" y="308160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Mất cân bằng lớp: legitimate chiếm ~70% → áp dụng RandomUnderSampler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33 feature gốc → chọn lọc 16 feature quan trọng nhất: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9"/>
          <p:cNvSpPr/>
          <p:nvPr/>
        </p:nvSpPr>
        <p:spPr>
          <a:xfrm>
            <a:off x="1188720" y="395928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12 per-packet: tcp.len, tcp.time_delta, tcp.flags, mqtt.msgtype, ...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1188720" y="43981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4 per-IP aggregate (cửa sổ trượt): time_delta_mean, time_delta_std, pkt_rate, pub_to_conn_ratio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594360" y="630936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Feature lựa chọn dựa trên feature importance XGBoost và loại bỏ feature phụ thuộc nhau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Phân bố lớp trong dataset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9" name="Picture 3" descr="class_distribution.png"/>
          <p:cNvPicPr/>
          <p:nvPr/>
        </p:nvPicPr>
        <p:blipFill>
          <a:blip r:embed="rId1"/>
          <a:stretch/>
        </p:blipFill>
        <p:spPr>
          <a:xfrm>
            <a:off x="1371600" y="1417320"/>
            <a:ext cx="9143640" cy="3600720"/>
          </a:xfrm>
          <a:prstGeom prst="rect">
            <a:avLst/>
          </a:prstGeom>
          <a:ln w="0">
            <a:noFill/>
          </a:ln>
        </p:spPr>
      </p:pic>
      <p:sp>
        <p:nvSpPr>
          <p:cNvPr id="150" name="TextBox 4"/>
          <p:cNvSpPr/>
          <p:nvPr/>
        </p:nvSpPr>
        <p:spPr>
          <a:xfrm>
            <a:off x="594360" y="630936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Class distribution sau RandomUnderSampler — legitimate được hạ xuống cân bằng với attack classes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Mô hình XGBoost — Cấu hình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Thuật toán: XGBoost (Extreme Gradient Boosting) — multiclass softmax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Hyperparameters tối ưu: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n_estimators = 400  ·  best_iteration = 307  ·  max_depth = 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learning_rate = 0.1  ·  subsample = 0.8  ·  colsample_bytree = 0.8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min_child_weight = 5  ·  gamma = 0.1  ·  reg_alpha / reg_lambda = 0.1 / 1.0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tree_method = hist  ·  device = cuda  ·  early_stopping_rounds = 20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Pipeline: StandardScaler → XGBClassifier → LabelEncoder (6 classes)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777240" y="43981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Lý do chọn XGBoost: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Xử lý tốt mixed-type feature (numeric + binary flags)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1188720" y="52761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Tốc độ inference nhanh (&lt;1ms/sample) — phù hợp realtime IDS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1188720" y="57150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Khả năng giải thích cao qua feature importance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Kết quả huấn luyện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59436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81.6%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594360" y="3794760"/>
            <a:ext cx="21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94360" y="4343400"/>
            <a:ext cx="2199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Validation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Accuracy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279432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83.2%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2794320" y="3794760"/>
            <a:ext cx="21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2794320" y="4343400"/>
            <a:ext cx="2199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Accuracy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9"/>
          <p:cNvSpPr/>
          <p:nvPr/>
        </p:nvSpPr>
        <p:spPr>
          <a:xfrm>
            <a:off x="277596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499428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83.8%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1"/>
          <p:cNvSpPr/>
          <p:nvPr/>
        </p:nvSpPr>
        <p:spPr>
          <a:xfrm>
            <a:off x="4994280" y="3794760"/>
            <a:ext cx="21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4994280" y="4343400"/>
            <a:ext cx="2199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F1 (weighted)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13"/>
          <p:cNvSpPr/>
          <p:nvPr/>
        </p:nvSpPr>
        <p:spPr>
          <a:xfrm>
            <a:off x="497628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4"/>
          <p:cNvSpPr/>
          <p:nvPr/>
        </p:nvSpPr>
        <p:spPr>
          <a:xfrm>
            <a:off x="7194600" y="2103120"/>
            <a:ext cx="2199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6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7194600" y="379476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77777"/>
                </a:solidFill>
                <a:latin typeface="Calibri"/>
              </a:rPr>
              <a:t>loại phân loại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719460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Classes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 17"/>
          <p:cNvSpPr/>
          <p:nvPr/>
        </p:nvSpPr>
        <p:spPr>
          <a:xfrm>
            <a:off x="717624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9394560" y="2103120"/>
            <a:ext cx="2199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16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9394560" y="379476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77777"/>
                </a:solidFill>
                <a:latin typeface="Calibri"/>
              </a:rPr>
              <a:t>/ 33 đặc trưng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20"/>
          <p:cNvSpPr/>
          <p:nvPr/>
        </p:nvSpPr>
        <p:spPr>
          <a:xfrm>
            <a:off x="939456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Features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 21"/>
          <p:cNvSpPr/>
          <p:nvPr/>
        </p:nvSpPr>
        <p:spPr>
          <a:xfrm>
            <a:off x="937620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594360" y="626364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Trained on 8.4M samples  ·  XGBoost v5  ·  Saved: 2026-05-01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Confusion Matrix — Validation &amp; Test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8" name="Picture 3" descr="confusion_matrix_best.png"/>
          <p:cNvPicPr/>
          <p:nvPr/>
        </p:nvPicPr>
        <p:blipFill>
          <a:blip r:embed="rId1"/>
          <a:stretch/>
        </p:blipFill>
        <p:spPr>
          <a:xfrm>
            <a:off x="365760" y="1417320"/>
            <a:ext cx="5303160" cy="202572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4" descr="confusion_matrix.png"/>
          <p:cNvPicPr/>
          <p:nvPr/>
        </p:nvPicPr>
        <p:blipFill>
          <a:blip r:embed="rId2"/>
          <a:stretch/>
        </p:blipFill>
        <p:spPr>
          <a:xfrm>
            <a:off x="6309360" y="1417320"/>
            <a:ext cx="5303160" cy="4124520"/>
          </a:xfrm>
          <a:prstGeom prst="rect">
            <a:avLst/>
          </a:prstGeom>
          <a:ln w="0">
            <a:noFill/>
          </a:ln>
        </p:spPr>
      </p:pic>
      <p:sp>
        <p:nvSpPr>
          <p:cNvPr id="190" name="TextBox 5"/>
          <p:cNvSpPr/>
          <p:nvPr/>
        </p:nvSpPr>
        <p:spPr>
          <a:xfrm>
            <a:off x="365760" y="589788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Validation set confusion matrix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6309360" y="589788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Test set (deployment evaluation)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Feature Importance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4" name="Picture 3" descr="feature_importance_rf.png"/>
          <p:cNvPicPr/>
          <p:nvPr/>
        </p:nvPicPr>
        <p:blipFill>
          <a:blip r:embed="rId1"/>
          <a:stretch/>
        </p:blipFill>
        <p:spPr>
          <a:xfrm>
            <a:off x="2827440" y="1417320"/>
            <a:ext cx="6506280" cy="4525920"/>
          </a:xfrm>
          <a:prstGeom prst="rect">
            <a:avLst/>
          </a:prstGeom>
          <a:ln w="0">
            <a:noFill/>
          </a:ln>
        </p:spPr>
      </p:pic>
      <p:sp>
        <p:nvSpPr>
          <p:cNvPr id="195" name="TextBox 4"/>
          <p:cNvSpPr/>
          <p:nvPr/>
        </p:nvSpPr>
        <p:spPr>
          <a:xfrm>
            <a:off x="594360" y="630936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Top features: pkt_rate, time_delta_std, tcp.len, mqtt.msgtype — aggregate features đóng góp lớn nhất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ROC Curves — 6 lớp phân loại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8" name="Picture 3" descr="roc_curves.png"/>
          <p:cNvPicPr/>
          <p:nvPr/>
        </p:nvPicPr>
        <p:blipFill>
          <a:blip r:embed="rId1"/>
          <a:stretch/>
        </p:blipFill>
        <p:spPr>
          <a:xfrm>
            <a:off x="3357000" y="1417320"/>
            <a:ext cx="5172480" cy="4525920"/>
          </a:xfrm>
          <a:prstGeom prst="rect">
            <a:avLst/>
          </a:prstGeom>
          <a:ln w="0">
            <a:noFill/>
          </a:ln>
        </p:spPr>
      </p:pic>
      <p:sp>
        <p:nvSpPr>
          <p:cNvPr id="199" name="TextBox 4"/>
          <p:cNvSpPr/>
          <p:nvPr/>
        </p:nvSpPr>
        <p:spPr>
          <a:xfrm>
            <a:off x="594360" y="630936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AUC &gt; 0.95 cho hầu hết các lớp. Slowite thấp nhất do đặc trưng chồng lấp với legitimate traffic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Triển khai hệ thống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IDS API · Traffic Capture · Ryu Controller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Kiến trúc hệ thống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ectangle 3"/>
          <p:cNvSpPr/>
          <p:nvPr/>
        </p:nvSpPr>
        <p:spPr>
          <a:xfrm>
            <a:off x="1120320" y="2103120"/>
            <a:ext cx="1828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1193400" y="2212920"/>
            <a:ext cx="16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IoT Hosts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(h1–h8)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ectangle 5"/>
          <p:cNvSpPr/>
          <p:nvPr/>
        </p:nvSpPr>
        <p:spPr>
          <a:xfrm>
            <a:off x="1229760" y="2880360"/>
            <a:ext cx="1608840" cy="122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1193400" y="2944440"/>
            <a:ext cx="168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Publishers &amp;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Subscribers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MQTT over TCP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2967120" y="2788920"/>
            <a:ext cx="34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8"/>
          <p:cNvSpPr/>
          <p:nvPr/>
        </p:nvSpPr>
        <p:spPr>
          <a:xfrm>
            <a:off x="3150000" y="2103120"/>
            <a:ext cx="1828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3223440" y="2212920"/>
            <a:ext cx="16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s1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OVS Switch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10"/>
          <p:cNvSpPr/>
          <p:nvPr/>
        </p:nvSpPr>
        <p:spPr>
          <a:xfrm>
            <a:off x="3259800" y="2880360"/>
            <a:ext cx="1608840" cy="122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3223440" y="2944440"/>
            <a:ext cx="168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OpenFlow 1.3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Mirror → eth11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Drop rules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4997160" y="2788920"/>
            <a:ext cx="34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13"/>
          <p:cNvSpPr/>
          <p:nvPr/>
        </p:nvSpPr>
        <p:spPr>
          <a:xfrm>
            <a:off x="5180040" y="2103120"/>
            <a:ext cx="1828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4"/>
          <p:cNvSpPr/>
          <p:nvPr/>
        </p:nvSpPr>
        <p:spPr>
          <a:xfrm>
            <a:off x="5253120" y="2212920"/>
            <a:ext cx="16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tshark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Capture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ectangle 15"/>
          <p:cNvSpPr/>
          <p:nvPr/>
        </p:nvSpPr>
        <p:spPr>
          <a:xfrm>
            <a:off x="5289840" y="2880360"/>
            <a:ext cx="1608840" cy="122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16"/>
          <p:cNvSpPr/>
          <p:nvPr/>
        </p:nvSpPr>
        <p:spPr>
          <a:xfrm>
            <a:off x="5253120" y="2944440"/>
            <a:ext cx="168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traffic_capture.py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12 raw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POST /predict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7"/>
          <p:cNvSpPr/>
          <p:nvPr/>
        </p:nvSpPr>
        <p:spPr>
          <a:xfrm>
            <a:off x="7027200" y="2788920"/>
            <a:ext cx="34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 18"/>
          <p:cNvSpPr/>
          <p:nvPr/>
        </p:nvSpPr>
        <p:spPr>
          <a:xfrm>
            <a:off x="7210080" y="2103120"/>
            <a:ext cx="1828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9"/>
          <p:cNvSpPr/>
          <p:nvPr/>
        </p:nvSpPr>
        <p:spPr>
          <a:xfrm>
            <a:off x="7283160" y="2212920"/>
            <a:ext cx="16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IDS API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Flask :5000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20"/>
          <p:cNvSpPr/>
          <p:nvPr/>
        </p:nvSpPr>
        <p:spPr>
          <a:xfrm>
            <a:off x="7319880" y="2880360"/>
            <a:ext cx="1608840" cy="122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21"/>
          <p:cNvSpPr/>
          <p:nvPr/>
        </p:nvSpPr>
        <p:spPr>
          <a:xfrm>
            <a:off x="7283160" y="2944440"/>
            <a:ext cx="168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XGBoost v5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16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Threat score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22"/>
          <p:cNvSpPr/>
          <p:nvPr/>
        </p:nvSpPr>
        <p:spPr>
          <a:xfrm>
            <a:off x="9057240" y="2788920"/>
            <a:ext cx="34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tangle 23"/>
          <p:cNvSpPr/>
          <p:nvPr/>
        </p:nvSpPr>
        <p:spPr>
          <a:xfrm>
            <a:off x="9240120" y="2103120"/>
            <a:ext cx="1828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24"/>
          <p:cNvSpPr/>
          <p:nvPr/>
        </p:nvSpPr>
        <p:spPr>
          <a:xfrm>
            <a:off x="9313200" y="2212920"/>
            <a:ext cx="16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Ryu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Controller :6633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25"/>
          <p:cNvSpPr/>
          <p:nvPr/>
        </p:nvSpPr>
        <p:spPr>
          <a:xfrm>
            <a:off x="9349920" y="2880360"/>
            <a:ext cx="1608840" cy="122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26"/>
          <p:cNvSpPr/>
          <p:nvPr/>
        </p:nvSpPr>
        <p:spPr>
          <a:xfrm>
            <a:off x="9313200" y="2944440"/>
            <a:ext cx="168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L2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REST block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77777"/>
                </a:solidFill>
                <a:latin typeface="Calibri"/>
              </a:rPr>
              <a:t>DROP rule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27"/>
          <p:cNvSpPr/>
          <p:nvPr/>
        </p:nvSpPr>
        <p:spPr>
          <a:xfrm>
            <a:off x="3977640" y="4572000"/>
            <a:ext cx="2194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hbroker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(Mosquitto :1883)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28"/>
          <p:cNvSpPr/>
          <p:nvPr/>
        </p:nvSpPr>
        <p:spPr>
          <a:xfrm>
            <a:off x="3931920" y="4526280"/>
            <a:ext cx="2285640" cy="7768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29"/>
          <p:cNvSpPr/>
          <p:nvPr/>
        </p:nvSpPr>
        <p:spPr>
          <a:xfrm>
            <a:off x="3931920" y="4526280"/>
            <a:ext cx="2285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hbroker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(Mosquitto :1883)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30"/>
          <p:cNvSpPr/>
          <p:nvPr/>
        </p:nvSpPr>
        <p:spPr>
          <a:xfrm>
            <a:off x="4297680" y="4069080"/>
            <a:ext cx="1645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77777"/>
                </a:solidFill>
                <a:latin typeface="Calibri"/>
              </a:rPr>
              <a:t>↕ </a:t>
            </a:r>
            <a:r>
              <a:rPr b="0" i="1" lang="en-US" sz="1000" spc="-1" strike="noStrike">
                <a:solidFill>
                  <a:srgbClr val="777777"/>
                </a:solidFill>
                <a:latin typeface="Calibri"/>
              </a:rPr>
              <a:t>MQTT :1883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IDS API — Flask REST (ids_api.py)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POST /predict — nhận 12 raw features + tính 4 aggregate per-IP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Threat Score system (thay thế vote window):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Mỗi IP có 1 điểm số (0–10), tăng khi detect attack, giảm theo exponential decay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Nhiều loại attack cùng lúc đều cộng vào 1 pool — không reset cứng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IDS_BLOCK_CONF=0.8 · IDS_VOTE_WINDOW=20 · IDS_AGG_WINDOW=10s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Khi threat score vượt ngưỡng → gọi POST /ids/block lên Ryu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Whitelist: broker (10.0.0.10), localhost — không bao giờ bị block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777240" y="43981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GET /stats — xem số packet phân loại, block events, confidence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777240" y="48373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POST /reset — xoá toàn bộ per-IP state (dùng giữa các kịch bản test)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594360" y="630936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6 lớp model: bruteforce · dos · flood · legitimate · malformed · slowite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Traffic Capture — traffic_capture.py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Dùng tshark bắt traffic trên s1-eth11 (mirror port)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BPF filter: tcp port 1883  ·  Display filter: mqtt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5"/>
          <p:cNvSpPr/>
          <p:nvPr/>
        </p:nvSpPr>
        <p:spPr>
          <a:xfrm>
            <a:off x="777240" y="22035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Trích xuất 12 tshark fields, parse thành JSON, POST lên /predict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4 aggregate features tính server-side trong ids_api.py: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time_delta_mean / time_delta_std — thống kê inter-packet interval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pkt_rate — số packet/giây trong cửa sổ 10s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9"/>
          <p:cNvSpPr/>
          <p:nvPr/>
        </p:nvSpPr>
        <p:spPr>
          <a:xfrm>
            <a:off x="1188720" y="395928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pub_to_conn_ratio — số PUBLISH / số CONNECT (phát hiện C2/exfil)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777240" y="43981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Lợi thế mirror port: bắt traffic ở wire speed, không ảnh hưởng luồng chính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Ryu SDN Controller — ryu_controller.py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L2 learning switch — OpenFlow 1.3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1188720" y="17647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Học MAC-to-port mapping, cài exact-match flow rule khi biết path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Table-miss rule: gửi unmatched packet lên controller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Port mirroring — s1-eth11: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Copy ALL ingress traffic sang mirror port qua ovs-vsctl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tshark bind tới eth11 — zero disruption to normal forwarding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REST Flow Enforcer: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1188720" y="43981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POST /ids/block {ip} → cài DROP rule priority=200, permanent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POST /ids/unblock {ip} → xóa DROP rule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12"/>
          <p:cNvSpPr/>
          <p:nvPr/>
        </p:nvSpPr>
        <p:spPr>
          <a:xfrm>
            <a:off x="1188720" y="52761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GET /ids/rules → liệt kê IP đang bị block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777240" y="571500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Block ở data plane — drop tại OVS, không cần packet đến controller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Topology Mininet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8 hosts · 1 OVS switch · 1 broker · 1 attacker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Topology Mininet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5532120" y="3090960"/>
            <a:ext cx="1737000" cy="6854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5532120" y="3090960"/>
            <a:ext cx="1737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s1  (OVS)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1600200" y="1417680"/>
            <a:ext cx="1188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777777"/>
                </a:solidFill>
                <a:latin typeface="Calibri"/>
              </a:rPr>
              <a:t>Publishers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ectangle 6"/>
          <p:cNvSpPr/>
          <p:nvPr/>
        </p:nvSpPr>
        <p:spPr>
          <a:xfrm>
            <a:off x="1600200" y="162792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1600200" y="162792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0" name="Connector 8"/>
          <p:cNvCxnSpPr/>
          <p:nvPr/>
        </p:nvCxnSpPr>
        <p:spPr>
          <a:xfrm>
            <a:off x="2788920" y="1879200"/>
            <a:ext cx="2743560" cy="15548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81" name="Rectangle 9"/>
          <p:cNvSpPr/>
          <p:nvPr/>
        </p:nvSpPr>
        <p:spPr>
          <a:xfrm>
            <a:off x="1600200" y="226800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10"/>
          <p:cNvSpPr/>
          <p:nvPr/>
        </p:nvSpPr>
        <p:spPr>
          <a:xfrm>
            <a:off x="1600200" y="226800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3" name="Connector 11"/>
          <p:cNvCxnSpPr/>
          <p:nvPr/>
        </p:nvCxnSpPr>
        <p:spPr>
          <a:xfrm>
            <a:off x="2788920" y="2519280"/>
            <a:ext cx="2743560" cy="91476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84" name="Rectangle 12"/>
          <p:cNvSpPr/>
          <p:nvPr/>
        </p:nvSpPr>
        <p:spPr>
          <a:xfrm>
            <a:off x="1600200" y="290808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1600200" y="290808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6" name="Connector 14"/>
          <p:cNvCxnSpPr/>
          <p:nvPr/>
        </p:nvCxnSpPr>
        <p:spPr>
          <a:xfrm>
            <a:off x="2788920" y="3159360"/>
            <a:ext cx="2743560" cy="27468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87" name="Rectangle 15"/>
          <p:cNvSpPr/>
          <p:nvPr/>
        </p:nvSpPr>
        <p:spPr>
          <a:xfrm>
            <a:off x="1600200" y="354816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6"/>
          <p:cNvSpPr/>
          <p:nvPr/>
        </p:nvSpPr>
        <p:spPr>
          <a:xfrm>
            <a:off x="1600200" y="354816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9" name="Connector 17"/>
          <p:cNvCxnSpPr/>
          <p:nvPr/>
        </p:nvCxnSpPr>
        <p:spPr>
          <a:xfrm flipV="1">
            <a:off x="2788920" y="3433680"/>
            <a:ext cx="2743560" cy="366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90" name="Rectangle 18"/>
          <p:cNvSpPr/>
          <p:nvPr/>
        </p:nvSpPr>
        <p:spPr>
          <a:xfrm>
            <a:off x="1600200" y="418824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19"/>
          <p:cNvSpPr/>
          <p:nvPr/>
        </p:nvSpPr>
        <p:spPr>
          <a:xfrm>
            <a:off x="1600200" y="418824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2" name="Connector 20"/>
          <p:cNvCxnSpPr/>
          <p:nvPr/>
        </p:nvCxnSpPr>
        <p:spPr>
          <a:xfrm flipV="1">
            <a:off x="2788920" y="3433680"/>
            <a:ext cx="2743560" cy="10062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93" name="Rectangle 21"/>
          <p:cNvSpPr/>
          <p:nvPr/>
        </p:nvSpPr>
        <p:spPr>
          <a:xfrm>
            <a:off x="1600200" y="482832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22"/>
          <p:cNvSpPr/>
          <p:nvPr/>
        </p:nvSpPr>
        <p:spPr>
          <a:xfrm>
            <a:off x="1600200" y="482832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5" name="Connector 23"/>
          <p:cNvCxnSpPr/>
          <p:nvPr/>
        </p:nvCxnSpPr>
        <p:spPr>
          <a:xfrm flipV="1">
            <a:off x="2788920" y="3433680"/>
            <a:ext cx="2743560" cy="164628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96" name="TextBox 24"/>
          <p:cNvSpPr/>
          <p:nvPr/>
        </p:nvSpPr>
        <p:spPr>
          <a:xfrm>
            <a:off x="3520440" y="3337920"/>
            <a:ext cx="7311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750" spc="-1" strike="noStrike">
                <a:solidFill>
                  <a:srgbClr val="777777"/>
                </a:solidFill>
                <a:latin typeface="Calibri"/>
              </a:rPr>
              <a:t>eth1–6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25"/>
          <p:cNvSpPr/>
          <p:nvPr/>
        </p:nvSpPr>
        <p:spPr>
          <a:xfrm>
            <a:off x="7909560" y="2450880"/>
            <a:ext cx="1188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777777"/>
                </a:solidFill>
                <a:latin typeface="Calibri"/>
              </a:rPr>
              <a:t>Subscribers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26"/>
          <p:cNvSpPr/>
          <p:nvPr/>
        </p:nvSpPr>
        <p:spPr>
          <a:xfrm>
            <a:off x="7909560" y="269784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27"/>
          <p:cNvSpPr/>
          <p:nvPr/>
        </p:nvSpPr>
        <p:spPr>
          <a:xfrm>
            <a:off x="7909560" y="269784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0" name="Connector 28"/>
          <p:cNvCxnSpPr/>
          <p:nvPr/>
        </p:nvCxnSpPr>
        <p:spPr>
          <a:xfrm flipV="1">
            <a:off x="7269480" y="2949120"/>
            <a:ext cx="640440" cy="4849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01" name="Rectangle 29"/>
          <p:cNvSpPr/>
          <p:nvPr/>
        </p:nvSpPr>
        <p:spPr>
          <a:xfrm>
            <a:off x="7909560" y="356652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30"/>
          <p:cNvSpPr/>
          <p:nvPr/>
        </p:nvSpPr>
        <p:spPr>
          <a:xfrm>
            <a:off x="7909560" y="356652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3" name="Connector 31"/>
          <p:cNvCxnSpPr/>
          <p:nvPr/>
        </p:nvCxnSpPr>
        <p:spPr>
          <a:xfrm>
            <a:off x="7269480" y="3433680"/>
            <a:ext cx="640440" cy="38448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04" name="TextBox 32"/>
          <p:cNvSpPr/>
          <p:nvPr/>
        </p:nvSpPr>
        <p:spPr>
          <a:xfrm>
            <a:off x="7306200" y="3337920"/>
            <a:ext cx="566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750" spc="-1" strike="noStrike">
                <a:solidFill>
                  <a:srgbClr val="777777"/>
                </a:solidFill>
                <a:latin typeface="Calibri"/>
              </a:rPr>
              <a:t>eth7–8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ectangle 33"/>
          <p:cNvSpPr/>
          <p:nvPr/>
        </p:nvSpPr>
        <p:spPr>
          <a:xfrm>
            <a:off x="5806440" y="1509120"/>
            <a:ext cx="1188360" cy="502560"/>
          </a:xfrm>
          <a:prstGeom prst="rect">
            <a:avLst/>
          </a:prstGeom>
          <a:solidFill>
            <a:srgbClr val="1a1a1a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34"/>
          <p:cNvSpPr/>
          <p:nvPr/>
        </p:nvSpPr>
        <p:spPr>
          <a:xfrm>
            <a:off x="5806440" y="150912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hbroker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10.0.0.10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7" name="Connector 35"/>
          <p:cNvCxnSpPr/>
          <p:nvPr/>
        </p:nvCxnSpPr>
        <p:spPr>
          <a:xfrm>
            <a:off x="6400800" y="2011680"/>
            <a:ext cx="360" cy="10796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08" name="TextBox 36"/>
          <p:cNvSpPr/>
          <p:nvPr/>
        </p:nvSpPr>
        <p:spPr>
          <a:xfrm>
            <a:off x="6492240" y="2551320"/>
            <a:ext cx="3654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750" spc="-1" strike="noStrike">
                <a:solidFill>
                  <a:srgbClr val="777777"/>
                </a:solidFill>
                <a:latin typeface="Calibri"/>
              </a:rPr>
              <a:t>eth9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 37"/>
          <p:cNvSpPr/>
          <p:nvPr/>
        </p:nvSpPr>
        <p:spPr>
          <a:xfrm>
            <a:off x="5806440" y="4983840"/>
            <a:ext cx="1188360" cy="502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38"/>
          <p:cNvSpPr/>
          <p:nvPr/>
        </p:nvSpPr>
        <p:spPr>
          <a:xfrm>
            <a:off x="5806440" y="4983840"/>
            <a:ext cx="1188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hattacker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Calibri"/>
              </a:rPr>
              <a:t>10.0.0.99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1" name="Connector 39"/>
          <p:cNvCxnSpPr/>
          <p:nvPr/>
        </p:nvCxnSpPr>
        <p:spPr>
          <a:xfrm flipV="1">
            <a:off x="6400800" y="3776760"/>
            <a:ext cx="360" cy="120708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12" name="TextBox 40"/>
          <p:cNvSpPr/>
          <p:nvPr/>
        </p:nvSpPr>
        <p:spPr>
          <a:xfrm>
            <a:off x="6492240" y="4453560"/>
            <a:ext cx="4201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750" spc="-1" strike="noStrike">
                <a:solidFill>
                  <a:srgbClr val="777777"/>
                </a:solidFill>
                <a:latin typeface="Calibri"/>
              </a:rPr>
              <a:t>eth10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41"/>
          <p:cNvSpPr/>
          <p:nvPr/>
        </p:nvSpPr>
        <p:spPr>
          <a:xfrm>
            <a:off x="7909560" y="4691160"/>
            <a:ext cx="3200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i="1" lang="en-US" sz="850" spc="-1" strike="noStrike">
                <a:solidFill>
                  <a:srgbClr val="777777"/>
                </a:solidFill>
                <a:latin typeface="Calibri"/>
              </a:rPr>
              <a:t>s1-eth11  (mirror port, no host)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850" spc="-1" strike="noStrike">
                <a:solidFill>
                  <a:srgbClr val="777777"/>
                </a:solidFill>
                <a:latin typeface="Calibri"/>
              </a:rPr>
              <a:t>tshark listens → IDS API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42"/>
          <p:cNvSpPr/>
          <p:nvPr/>
        </p:nvSpPr>
        <p:spPr>
          <a:xfrm>
            <a:off x="274320" y="5779080"/>
            <a:ext cx="11639880" cy="594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43"/>
          <p:cNvSpPr/>
          <p:nvPr/>
        </p:nvSpPr>
        <p:spPr>
          <a:xfrm>
            <a:off x="457200" y="5815440"/>
            <a:ext cx="11274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Calibri"/>
              </a:rPr>
              <a:t>Ryu Controller  :6633 / :8080  (OpenFlow 1.3)  ·  IDS API  :5000  (XGBoost v5)  ·  tshark on s1-eth11  ·  Mosquitto  :1883 on hbroker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IP Addressing &amp; Port Mapping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Publishers: h1–h6  →  10.0.0.1 – 10.0.0.6  (eth1–eth6 on s1)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Subscribers: h7–h8  →  10.0.0.7 – 10.0.0.8  (eth7–eth8 on s1)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5"/>
          <p:cNvSpPr/>
          <p:nvPr/>
        </p:nvSpPr>
        <p:spPr>
          <a:xfrm>
            <a:off x="777240" y="22035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Broker: hbroker  →  10.0.0.10  (eth9 on s1)  ·  Mosquitto port 1883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Attacker: hattacker  →  10.0.0.99  (eth10 on s1)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7"/>
          <p:cNvSpPr/>
          <p:nvPr/>
        </p:nvSpPr>
        <p:spPr>
          <a:xfrm>
            <a:off x="777240" y="308160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Mirror port: s1-eth11  (không gắn host — tshark listen ở host OS)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Controller: Ryu localhost:6633 (OpenFlow)  +  :8080 (REST)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Bandwidth: broker &amp; attacker link 100Mbps, host links 10Mbps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10"/>
          <p:cNvSpPr/>
          <p:nvPr/>
        </p:nvSpPr>
        <p:spPr>
          <a:xfrm>
            <a:off x="594360" y="630936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Topology giống nhau trong Part2 và part3 — chỉ khác file topology.py chạy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Kịch bản tấn công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Đơn lẻ · Kill-chain · Đa kẻ tấn công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Kịch bản 1 — Tấn công đơn lẻ (tuần tự)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Rectangle 3"/>
          <p:cNvSpPr/>
          <p:nvPr/>
        </p:nvSpPr>
        <p:spPr>
          <a:xfrm>
            <a:off x="813960" y="1508760"/>
            <a:ext cx="196560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Rectangle 4"/>
          <p:cNvSpPr/>
          <p:nvPr/>
        </p:nvSpPr>
        <p:spPr>
          <a:xfrm>
            <a:off x="813960" y="1508760"/>
            <a:ext cx="1965600" cy="47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extBox 5"/>
          <p:cNvSpPr/>
          <p:nvPr/>
        </p:nvSpPr>
        <p:spPr>
          <a:xfrm>
            <a:off x="813960" y="1508760"/>
            <a:ext cx="196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6"/>
          <p:cNvSpPr/>
          <p:nvPr/>
        </p:nvSpPr>
        <p:spPr>
          <a:xfrm>
            <a:off x="905400" y="2057400"/>
            <a:ext cx="1782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MQTT Flood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7"/>
          <p:cNvSpPr/>
          <p:nvPr/>
        </p:nvSpPr>
        <p:spPr>
          <a:xfrm>
            <a:off x="923400" y="2743200"/>
            <a:ext cx="174600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attack1_mqtt_flood.py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300 msg/s, 5 threads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DoS — broker saturation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ectangle 8"/>
          <p:cNvSpPr/>
          <p:nvPr/>
        </p:nvSpPr>
        <p:spPr>
          <a:xfrm>
            <a:off x="2962800" y="1508760"/>
            <a:ext cx="196560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Rectangle 9"/>
          <p:cNvSpPr/>
          <p:nvPr/>
        </p:nvSpPr>
        <p:spPr>
          <a:xfrm>
            <a:off x="2962800" y="1508760"/>
            <a:ext cx="1965600" cy="47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10"/>
          <p:cNvSpPr/>
          <p:nvPr/>
        </p:nvSpPr>
        <p:spPr>
          <a:xfrm>
            <a:off x="2962800" y="1508760"/>
            <a:ext cx="196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11"/>
          <p:cNvSpPr/>
          <p:nvPr/>
        </p:nvSpPr>
        <p:spPr>
          <a:xfrm>
            <a:off x="3054240" y="2057400"/>
            <a:ext cx="1782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DoS (TCP)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12"/>
          <p:cNvSpPr/>
          <p:nvPr/>
        </p:nvSpPr>
        <p:spPr>
          <a:xfrm>
            <a:off x="3072240" y="2743200"/>
            <a:ext cx="17460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attack2_dos.py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TCP connection flood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Exhaust broker sockets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ectangle 13"/>
          <p:cNvSpPr/>
          <p:nvPr/>
        </p:nvSpPr>
        <p:spPr>
          <a:xfrm>
            <a:off x="5111640" y="1508760"/>
            <a:ext cx="196560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Rectangle 14"/>
          <p:cNvSpPr/>
          <p:nvPr/>
        </p:nvSpPr>
        <p:spPr>
          <a:xfrm>
            <a:off x="5111640" y="1508760"/>
            <a:ext cx="1965600" cy="47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15"/>
          <p:cNvSpPr/>
          <p:nvPr/>
        </p:nvSpPr>
        <p:spPr>
          <a:xfrm>
            <a:off x="5111640" y="1508760"/>
            <a:ext cx="196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6"/>
          <p:cNvSpPr/>
          <p:nvPr/>
        </p:nvSpPr>
        <p:spPr>
          <a:xfrm>
            <a:off x="5203080" y="2057400"/>
            <a:ext cx="1782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Brute Force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17"/>
          <p:cNvSpPr/>
          <p:nvPr/>
        </p:nvSpPr>
        <p:spPr>
          <a:xfrm>
            <a:off x="5221080" y="2743200"/>
            <a:ext cx="17460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attack3_brute_force.py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300 user/pass pairs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CONNECT spam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Rectangle 18"/>
          <p:cNvSpPr/>
          <p:nvPr/>
        </p:nvSpPr>
        <p:spPr>
          <a:xfrm>
            <a:off x="7260480" y="1508760"/>
            <a:ext cx="196560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Rectangle 19"/>
          <p:cNvSpPr/>
          <p:nvPr/>
        </p:nvSpPr>
        <p:spPr>
          <a:xfrm>
            <a:off x="7260480" y="1508760"/>
            <a:ext cx="1965600" cy="47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20"/>
          <p:cNvSpPr/>
          <p:nvPr/>
        </p:nvSpPr>
        <p:spPr>
          <a:xfrm>
            <a:off x="7260480" y="1508760"/>
            <a:ext cx="196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21"/>
          <p:cNvSpPr/>
          <p:nvPr/>
        </p:nvSpPr>
        <p:spPr>
          <a:xfrm>
            <a:off x="7351920" y="2057400"/>
            <a:ext cx="1782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Malformed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22"/>
          <p:cNvSpPr/>
          <p:nvPr/>
        </p:nvSpPr>
        <p:spPr>
          <a:xfrm>
            <a:off x="7369920" y="2743200"/>
            <a:ext cx="17460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attack4_malformed.py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Bad MQTT headers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Parser exploit attempt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ectangle 23"/>
          <p:cNvSpPr/>
          <p:nvPr/>
        </p:nvSpPr>
        <p:spPr>
          <a:xfrm>
            <a:off x="9409320" y="1508760"/>
            <a:ext cx="196560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Rectangle 24"/>
          <p:cNvSpPr/>
          <p:nvPr/>
        </p:nvSpPr>
        <p:spPr>
          <a:xfrm>
            <a:off x="9409320" y="1508760"/>
            <a:ext cx="1965600" cy="47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TextBox 25"/>
          <p:cNvSpPr/>
          <p:nvPr/>
        </p:nvSpPr>
        <p:spPr>
          <a:xfrm>
            <a:off x="9409320" y="1508760"/>
            <a:ext cx="196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26"/>
          <p:cNvSpPr/>
          <p:nvPr/>
        </p:nvSpPr>
        <p:spPr>
          <a:xfrm>
            <a:off x="9500760" y="2057400"/>
            <a:ext cx="1782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Slow Drip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27"/>
          <p:cNvSpPr/>
          <p:nvPr/>
        </p:nvSpPr>
        <p:spPr>
          <a:xfrm>
            <a:off x="9518760" y="2743200"/>
            <a:ext cx="17460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attack5_slow_drip.py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1.5 msg/s, low-noise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Stealth exfiltration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28"/>
          <p:cNvSpPr/>
          <p:nvPr/>
        </p:nvSpPr>
        <p:spPr>
          <a:xfrm>
            <a:off x="594360" y="489204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Mỗi kịch bản: 1 attacker (hattacker) → 1 broker (10.0.0.10)  ·  Reset IDS state trước mỗi lần chạy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Box 1"/>
          <p:cNvSpPr/>
          <p:nvPr/>
        </p:nvSpPr>
        <p:spPr>
          <a:xfrm>
            <a:off x="594360" y="320040"/>
            <a:ext cx="11246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Kịch bản 2 — Kill-chain (1 kẻ tấn công, đa giai đoạn)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TextBox 3"/>
          <p:cNvSpPr/>
          <p:nvPr/>
        </p:nvSpPr>
        <p:spPr>
          <a:xfrm>
            <a:off x="594360" y="123444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Script: combined_attack.py  ·  Profile: fast (~60s)  ·  Kẻ tấn công: hattacker (10.0.0.99)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4"/>
          <p:cNvSpPr/>
          <p:nvPr/>
        </p:nvSpPr>
        <p:spPr>
          <a:xfrm>
            <a:off x="859680" y="1325880"/>
            <a:ext cx="2377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77777"/>
                </a:solidFill>
                <a:latin typeface="Calibri"/>
              </a:rPr>
              <a:t>t=0s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5"/>
          <p:cNvSpPr/>
          <p:nvPr/>
        </p:nvSpPr>
        <p:spPr>
          <a:xfrm>
            <a:off x="859680" y="1737360"/>
            <a:ext cx="2377080" cy="2925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ectangle 6"/>
          <p:cNvSpPr/>
          <p:nvPr/>
        </p:nvSpPr>
        <p:spPr>
          <a:xfrm>
            <a:off x="859680" y="1737360"/>
            <a:ext cx="2377080" cy="5482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TextBox 7"/>
          <p:cNvSpPr/>
          <p:nvPr/>
        </p:nvSpPr>
        <p:spPr>
          <a:xfrm>
            <a:off x="932760" y="1783080"/>
            <a:ext cx="2230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  RECON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8"/>
          <p:cNvSpPr/>
          <p:nvPr/>
        </p:nvSpPr>
        <p:spPr>
          <a:xfrm>
            <a:off x="969120" y="2377440"/>
            <a:ext cx="2157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Malformed probe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10 pkt/s · 5s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Fingerprint broker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9"/>
          <p:cNvSpPr/>
          <p:nvPr/>
        </p:nvSpPr>
        <p:spPr>
          <a:xfrm>
            <a:off x="3282840" y="2926080"/>
            <a:ext cx="502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10"/>
          <p:cNvSpPr/>
          <p:nvPr/>
        </p:nvSpPr>
        <p:spPr>
          <a:xfrm>
            <a:off x="3557160" y="1325880"/>
            <a:ext cx="2377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77777"/>
                </a:solidFill>
                <a:latin typeface="Calibri"/>
              </a:rPr>
              <a:t>t=8s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 11"/>
          <p:cNvSpPr/>
          <p:nvPr/>
        </p:nvSpPr>
        <p:spPr>
          <a:xfrm>
            <a:off x="3557160" y="1737360"/>
            <a:ext cx="2377080" cy="2925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ectangle 12"/>
          <p:cNvSpPr/>
          <p:nvPr/>
        </p:nvSpPr>
        <p:spPr>
          <a:xfrm>
            <a:off x="3557160" y="1737360"/>
            <a:ext cx="2377080" cy="5482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13"/>
          <p:cNvSpPr/>
          <p:nvPr/>
        </p:nvSpPr>
        <p:spPr>
          <a:xfrm>
            <a:off x="3630240" y="1783080"/>
            <a:ext cx="2230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  CREDENTIAL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4"/>
          <p:cNvSpPr/>
          <p:nvPr/>
        </p:nvSpPr>
        <p:spPr>
          <a:xfrm>
            <a:off x="3666600" y="2377440"/>
            <a:ext cx="2157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Brute-force CONNECT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delay=0.05s · 12s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Thu thập credential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15"/>
          <p:cNvSpPr/>
          <p:nvPr/>
        </p:nvSpPr>
        <p:spPr>
          <a:xfrm>
            <a:off x="5980320" y="2926080"/>
            <a:ext cx="502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16"/>
          <p:cNvSpPr/>
          <p:nvPr/>
        </p:nvSpPr>
        <p:spPr>
          <a:xfrm>
            <a:off x="6254640" y="1325880"/>
            <a:ext cx="2377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77777"/>
                </a:solidFill>
                <a:latin typeface="Calibri"/>
              </a:rPr>
              <a:t>t=22s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ectangle 17"/>
          <p:cNvSpPr/>
          <p:nvPr/>
        </p:nvSpPr>
        <p:spPr>
          <a:xfrm>
            <a:off x="6254640" y="1737360"/>
            <a:ext cx="2377080" cy="2925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Rectangle 18"/>
          <p:cNvSpPr/>
          <p:nvPr/>
        </p:nvSpPr>
        <p:spPr>
          <a:xfrm>
            <a:off x="6254640" y="1737360"/>
            <a:ext cx="2377080" cy="5482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19"/>
          <p:cNvSpPr/>
          <p:nvPr/>
        </p:nvSpPr>
        <p:spPr>
          <a:xfrm>
            <a:off x="6327720" y="1783080"/>
            <a:ext cx="2230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  IMPACT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20"/>
          <p:cNvSpPr/>
          <p:nvPr/>
        </p:nvSpPr>
        <p:spPr>
          <a:xfrm>
            <a:off x="6364080" y="2377440"/>
            <a:ext cx="2157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MQTT Flood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300 msg/s · 15s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Smokescreen DoS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21"/>
          <p:cNvSpPr/>
          <p:nvPr/>
        </p:nvSpPr>
        <p:spPr>
          <a:xfrm>
            <a:off x="8677800" y="2926080"/>
            <a:ext cx="502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22"/>
          <p:cNvSpPr/>
          <p:nvPr/>
        </p:nvSpPr>
        <p:spPr>
          <a:xfrm>
            <a:off x="8952120" y="1325880"/>
            <a:ext cx="2377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77777"/>
                </a:solidFill>
                <a:latin typeface="Calibri"/>
              </a:rPr>
              <a:t>t=40s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23"/>
          <p:cNvSpPr/>
          <p:nvPr/>
        </p:nvSpPr>
        <p:spPr>
          <a:xfrm>
            <a:off x="8952120" y="1737360"/>
            <a:ext cx="2377080" cy="2925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Rectangle 24"/>
          <p:cNvSpPr/>
          <p:nvPr/>
        </p:nvSpPr>
        <p:spPr>
          <a:xfrm>
            <a:off x="8952120" y="1737360"/>
            <a:ext cx="2377080" cy="5482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TextBox 25"/>
          <p:cNvSpPr/>
          <p:nvPr/>
        </p:nvSpPr>
        <p:spPr>
          <a:xfrm>
            <a:off x="9025200" y="1783080"/>
            <a:ext cx="2230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  EXFIL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6"/>
          <p:cNvSpPr/>
          <p:nvPr/>
        </p:nvSpPr>
        <p:spPr>
          <a:xfrm>
            <a:off x="9061560" y="2377440"/>
            <a:ext cx="2157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Slow-drip publish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1.5 msg/s · 20s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Stealth data leak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27"/>
          <p:cNvSpPr/>
          <p:nvPr/>
        </p:nvSpPr>
        <p:spPr>
          <a:xfrm>
            <a:off x="594360" y="4846320"/>
            <a:ext cx="1645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Calibri"/>
              </a:rPr>
              <a:t>IDS kỳ vọng: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28"/>
          <p:cNvSpPr/>
          <p:nvPr/>
        </p:nvSpPr>
        <p:spPr>
          <a:xfrm>
            <a:off x="2286000" y="4846320"/>
            <a:ext cx="9326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Block kích hoạt ở pha A hoặc B (threat score vượt ngưỡng)  ·  Ryu cài DROP rule cho 10.0.0.99  ·  Pha C &amp; D bị chặn tại data plane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Kịch bản 3 — Đa kẻ tấn công (Multi-Attacker)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3"/>
          <p:cNvSpPr/>
          <p:nvPr/>
        </p:nvSpPr>
        <p:spPr>
          <a:xfrm>
            <a:off x="594360" y="123444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777777"/>
                </a:solidFill>
                <a:latin typeface="Calibri"/>
              </a:rPr>
              <a:t>Script: scenario_multi_attacker.py  (part3)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Rectangle 4"/>
          <p:cNvSpPr/>
          <p:nvPr/>
        </p:nvSpPr>
        <p:spPr>
          <a:xfrm>
            <a:off x="594360" y="1691640"/>
            <a:ext cx="4937400" cy="329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5"/>
          <p:cNvSpPr/>
          <p:nvPr/>
        </p:nvSpPr>
        <p:spPr>
          <a:xfrm>
            <a:off x="731520" y="178308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h_attacker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10.0.0.99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ectangle 6"/>
          <p:cNvSpPr/>
          <p:nvPr/>
        </p:nvSpPr>
        <p:spPr>
          <a:xfrm>
            <a:off x="777240" y="2514600"/>
            <a:ext cx="4571640" cy="12240"/>
          </a:xfrm>
          <a:prstGeom prst="rect">
            <a:avLst/>
          </a:prstGeom>
          <a:solidFill>
            <a:srgbClr val="777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7"/>
          <p:cNvSpPr/>
          <p:nvPr/>
        </p:nvSpPr>
        <p:spPr>
          <a:xfrm>
            <a:off x="822960" y="2651760"/>
            <a:ext cx="448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A3 Brute Force CONNECT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8"/>
          <p:cNvSpPr/>
          <p:nvPr/>
        </p:nvSpPr>
        <p:spPr>
          <a:xfrm>
            <a:off x="822960" y="3246120"/>
            <a:ext cx="448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A5 Slow Drip (stealth channel)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Rectangle 9"/>
          <p:cNvSpPr/>
          <p:nvPr/>
        </p:nvSpPr>
        <p:spPr>
          <a:xfrm>
            <a:off x="6629400" y="1691640"/>
            <a:ext cx="4937400" cy="3291480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10"/>
          <p:cNvSpPr/>
          <p:nvPr/>
        </p:nvSpPr>
        <p:spPr>
          <a:xfrm>
            <a:off x="6766560" y="178308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10.0.0.5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ectangle 11"/>
          <p:cNvSpPr/>
          <p:nvPr/>
        </p:nvSpPr>
        <p:spPr>
          <a:xfrm>
            <a:off x="6812280" y="2514600"/>
            <a:ext cx="4571640" cy="12240"/>
          </a:xfrm>
          <a:prstGeom prst="rect">
            <a:avLst/>
          </a:prstGeom>
          <a:solidFill>
            <a:srgbClr val="777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12"/>
          <p:cNvSpPr/>
          <p:nvPr/>
        </p:nvSpPr>
        <p:spPr>
          <a:xfrm>
            <a:off x="6858000" y="2651760"/>
            <a:ext cx="448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A1 MQTT Flood (smokescreen)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13"/>
          <p:cNvSpPr/>
          <p:nvPr/>
        </p:nvSpPr>
        <p:spPr>
          <a:xfrm>
            <a:off x="6858000" y="3246120"/>
            <a:ext cx="448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A4 Malformed packets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14"/>
          <p:cNvSpPr/>
          <p:nvPr/>
        </p:nvSpPr>
        <p:spPr>
          <a:xfrm>
            <a:off x="5120640" y="2468880"/>
            <a:ext cx="18284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hbroker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10.0.0.10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(MQTT Broker)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ectangle 15"/>
          <p:cNvSpPr/>
          <p:nvPr/>
        </p:nvSpPr>
        <p:spPr>
          <a:xfrm>
            <a:off x="5074920" y="2423160"/>
            <a:ext cx="1919880" cy="1371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16"/>
          <p:cNvSpPr/>
          <p:nvPr/>
        </p:nvSpPr>
        <p:spPr>
          <a:xfrm>
            <a:off x="5074920" y="2423160"/>
            <a:ext cx="1919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hbroker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10.0.0.10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(MQTT Broker)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17"/>
          <p:cNvSpPr/>
          <p:nvPr/>
        </p:nvSpPr>
        <p:spPr>
          <a:xfrm>
            <a:off x="594360" y="516636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IDS xử lý đồng thời 2 IP nguồn — threat score độc lập cho mỗi IP.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18"/>
          <p:cNvSpPr/>
          <p:nvPr/>
        </p:nvSpPr>
        <p:spPr>
          <a:xfrm>
            <a:off x="594360" y="562356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Ryu cài DROP rule riêng biệt khi từng IP vượt ngưỡng.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19"/>
          <p:cNvSpPr/>
          <p:nvPr/>
        </p:nvSpPr>
        <p:spPr>
          <a:xfrm>
            <a:off x="594360" y="608076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· Kịch bản kiểm tra khả năng xử lý concurrent attack trên cùng 1 switch.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Kết quả đánh giá hệ thống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Per-class Precision/Recall/F1 · Latency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Tổng hợp kết quả đánh giá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3"/>
          <p:cNvSpPr/>
          <p:nvPr/>
        </p:nvSpPr>
        <p:spPr>
          <a:xfrm>
            <a:off x="59436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88.2%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4"/>
          <p:cNvSpPr/>
          <p:nvPr/>
        </p:nvSpPr>
        <p:spPr>
          <a:xfrm>
            <a:off x="594360" y="379476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77777"/>
                </a:solidFill>
                <a:latin typeface="Calibri"/>
              </a:rPr>
              <a:t>overall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5"/>
          <p:cNvSpPr/>
          <p:nvPr/>
        </p:nvSpPr>
        <p:spPr>
          <a:xfrm>
            <a:off x="59436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Accuracy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6"/>
          <p:cNvSpPr/>
          <p:nvPr/>
        </p:nvSpPr>
        <p:spPr>
          <a:xfrm>
            <a:off x="279432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0.847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7"/>
          <p:cNvSpPr/>
          <p:nvPr/>
        </p:nvSpPr>
        <p:spPr>
          <a:xfrm>
            <a:off x="2794320" y="3794760"/>
            <a:ext cx="21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8"/>
          <p:cNvSpPr/>
          <p:nvPr/>
        </p:nvSpPr>
        <p:spPr>
          <a:xfrm>
            <a:off x="279432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Macro F1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Rectangle 9"/>
          <p:cNvSpPr/>
          <p:nvPr/>
        </p:nvSpPr>
        <p:spPr>
          <a:xfrm>
            <a:off x="277596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10"/>
          <p:cNvSpPr/>
          <p:nvPr/>
        </p:nvSpPr>
        <p:spPr>
          <a:xfrm>
            <a:off x="499428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0.853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11"/>
          <p:cNvSpPr/>
          <p:nvPr/>
        </p:nvSpPr>
        <p:spPr>
          <a:xfrm>
            <a:off x="4994280" y="3794760"/>
            <a:ext cx="21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12"/>
          <p:cNvSpPr/>
          <p:nvPr/>
        </p:nvSpPr>
        <p:spPr>
          <a:xfrm>
            <a:off x="499428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Macro Precision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ectangle 13"/>
          <p:cNvSpPr/>
          <p:nvPr/>
        </p:nvSpPr>
        <p:spPr>
          <a:xfrm>
            <a:off x="497628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TextBox 14"/>
          <p:cNvSpPr/>
          <p:nvPr/>
        </p:nvSpPr>
        <p:spPr>
          <a:xfrm>
            <a:off x="7194600" y="2103120"/>
            <a:ext cx="2199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0.846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15"/>
          <p:cNvSpPr/>
          <p:nvPr/>
        </p:nvSpPr>
        <p:spPr>
          <a:xfrm>
            <a:off x="7194600" y="3794760"/>
            <a:ext cx="21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16"/>
          <p:cNvSpPr/>
          <p:nvPr/>
        </p:nvSpPr>
        <p:spPr>
          <a:xfrm>
            <a:off x="719460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Macro Recall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ectangle 17"/>
          <p:cNvSpPr/>
          <p:nvPr/>
        </p:nvSpPr>
        <p:spPr>
          <a:xfrm>
            <a:off x="717624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18"/>
          <p:cNvSpPr/>
          <p:nvPr/>
        </p:nvSpPr>
        <p:spPr>
          <a:xfrm>
            <a:off x="9394560" y="2103120"/>
            <a:ext cx="2199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Calibri"/>
              </a:rPr>
              <a:t>2.4%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19"/>
          <p:cNvSpPr/>
          <p:nvPr/>
        </p:nvSpPr>
        <p:spPr>
          <a:xfrm>
            <a:off x="9394560" y="379476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77777"/>
                </a:solidFill>
                <a:latin typeface="Calibri"/>
              </a:rPr>
              <a:t>false positive rate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20"/>
          <p:cNvSpPr/>
          <p:nvPr/>
        </p:nvSpPr>
        <p:spPr>
          <a:xfrm>
            <a:off x="9394560" y="4343400"/>
            <a:ext cx="219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Macro FPR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ectangle 21"/>
          <p:cNvSpPr/>
          <p:nvPr/>
        </p:nvSpPr>
        <p:spPr>
          <a:xfrm>
            <a:off x="9376200" y="1828800"/>
            <a:ext cx="14760" cy="320004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22"/>
          <p:cNvSpPr/>
          <p:nvPr/>
        </p:nvSpPr>
        <p:spPr>
          <a:xfrm>
            <a:off x="594360" y="626364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Đánh giá trên 500 packets thực tế từ kịch bản Mininet  ·  Timestamp: 2026-04-22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Kết quả theo lớp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Normal (legitimate):  P=94.2%  R=94.2%  F1=94.2%  FPR=3.6%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Flood (DoS):          P=90.2%  R=90.2%  F1=90.2%  FPR=1.9%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5"/>
          <p:cNvSpPr/>
          <p:nvPr/>
        </p:nvSpPr>
        <p:spPr>
          <a:xfrm>
            <a:off x="777240" y="22035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C2 Malware:           P=88.6%  R=84.9%  F1=86.7%  FPR=1.9%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Brute Force:          P=79.7%  R=90.8%  F1=84.9%  FPR=3.5%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7"/>
          <p:cNvSpPr/>
          <p:nvPr/>
        </p:nvSpPr>
        <p:spPr>
          <a:xfrm>
            <a:off x="777240" y="308160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Port Scan:            P=79.6%  R=83.0%  F1=81.3%  FPR=2.2%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Slow Drip:            P=79.4%  R=64.3%  F1=71.1%  FPR=1.5%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→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Slow Drip thấp nhất vì traffic rất giống legitimate — đặc trưng low-and-slow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10"/>
          <p:cNvSpPr/>
          <p:nvPr/>
        </p:nvSpPr>
        <p:spPr>
          <a:xfrm>
            <a:off x="594360" y="630936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Per-class breakdown từ part3/evaluation_results.json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Per-class Performance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3" name="Picture 3" descr="per_class_performance.png"/>
          <p:cNvPicPr/>
          <p:nvPr/>
        </p:nvPicPr>
        <p:blipFill>
          <a:blip r:embed="rId1"/>
          <a:stretch/>
        </p:blipFill>
        <p:spPr>
          <a:xfrm>
            <a:off x="1486440" y="1417320"/>
            <a:ext cx="9188280" cy="4525920"/>
          </a:xfrm>
          <a:prstGeom prst="rect">
            <a:avLst/>
          </a:prstGeom>
          <a:ln w="0">
            <a:noFill/>
          </a:ln>
        </p:spPr>
      </p:pic>
      <p:sp>
        <p:nvSpPr>
          <p:cNvPr id="444" name="TextBox 4"/>
          <p:cNvSpPr/>
          <p:nvPr/>
        </p:nvSpPr>
        <p:spPr>
          <a:xfrm>
            <a:off x="594360" y="630936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Precision / Recall / F1 theo từng lớp — flood &amp; normal đạt tốt nhất, slow_drip recall thấp hơn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Detection Latency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7" name="Picture 3" descr="latency_boxplot.png"/>
          <p:cNvPicPr/>
          <p:nvPr/>
        </p:nvPicPr>
        <p:blipFill>
          <a:blip r:embed="rId1"/>
          <a:stretch/>
        </p:blipFill>
        <p:spPr>
          <a:xfrm>
            <a:off x="2007000" y="1417320"/>
            <a:ext cx="8146800" cy="4525920"/>
          </a:xfrm>
          <a:prstGeom prst="rect">
            <a:avLst/>
          </a:prstGeom>
          <a:ln w="0">
            <a:noFill/>
          </a:ln>
        </p:spPr>
      </p:pic>
      <p:sp>
        <p:nvSpPr>
          <p:cNvPr id="448" name="TextBox 4"/>
          <p:cNvSpPr/>
          <p:nvPr/>
        </p:nvSpPr>
        <p:spPr>
          <a:xfrm>
            <a:off x="594360" y="630936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Latency boxplot — thời gian từ khi gói tin đến khi IDS trả kết quả (bao gồm tshark parsing + model inference)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Metrics Overview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51" name="Picture 3" descr="metrics_bar.png"/>
          <p:cNvPicPr/>
          <p:nvPr/>
        </p:nvPicPr>
        <p:blipFill>
          <a:blip r:embed="rId1"/>
          <a:stretch/>
        </p:blipFill>
        <p:spPr>
          <a:xfrm>
            <a:off x="1371600" y="1417320"/>
            <a:ext cx="9143640" cy="4155840"/>
          </a:xfrm>
          <a:prstGeom prst="rect">
            <a:avLst/>
          </a:prstGeom>
          <a:ln w="0">
            <a:noFill/>
          </a:ln>
        </p:spPr>
      </p:pic>
      <p:sp>
        <p:nvSpPr>
          <p:cNvPr id="452" name="TextBox 4"/>
          <p:cNvSpPr/>
          <p:nvPr/>
        </p:nvSpPr>
        <p:spPr>
          <a:xfrm>
            <a:off x="594360" y="630936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77777"/>
                </a:solidFill>
                <a:latin typeface="Calibri"/>
              </a:rPr>
              <a:t>Precision / Recall / F1 tổng hợp — macro average across all classes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Overhead Controller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Box 4"/>
          <p:cNvSpPr/>
          <p:nvPr/>
        </p:nvSpPr>
        <p:spPr>
          <a:xfrm>
            <a:off x="914400" y="420624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aaaaaa"/>
                </a:solidFill>
                <a:latin typeface="Calibri"/>
              </a:rPr>
              <a:t>Benchmark thực — IDS API (Flask) + Ryu REST + E2E detect→block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Benchmark Throughput &amp; Latency — Pipeline thực tế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59" name="Picture 3" descr="bench_latency.png"/>
          <p:cNvPicPr/>
          <p:nvPr/>
        </p:nvPicPr>
        <p:blipFill>
          <a:blip r:embed="rId1"/>
          <a:stretch/>
        </p:blipFill>
        <p:spPr>
          <a:xfrm>
            <a:off x="365760" y="2318040"/>
            <a:ext cx="5303160" cy="2482560"/>
          </a:xfrm>
          <a:prstGeom prst="rect">
            <a:avLst/>
          </a:prstGeom>
          <a:ln w="0">
            <a:noFill/>
          </a:ln>
        </p:spPr>
      </p:pic>
      <p:pic>
        <p:nvPicPr>
          <p:cNvPr id="460" name="Picture 4" descr="bench_throughput.png"/>
          <p:cNvPicPr/>
          <p:nvPr/>
        </p:nvPicPr>
        <p:blipFill>
          <a:blip r:embed="rId2"/>
          <a:stretch/>
        </p:blipFill>
        <p:spPr>
          <a:xfrm>
            <a:off x="6309360" y="2286000"/>
            <a:ext cx="5303160" cy="2482560"/>
          </a:xfrm>
          <a:prstGeom prst="rect">
            <a:avLst/>
          </a:prstGeom>
          <a:ln w="0">
            <a:noFill/>
          </a:ln>
        </p:spPr>
      </p:pic>
      <p:sp>
        <p:nvSpPr>
          <p:cNvPr id="461" name="TextBox 5"/>
          <p:cNvSpPr/>
          <p:nvPr/>
        </p:nvSpPr>
        <p:spPr>
          <a:xfrm>
            <a:off x="365760" y="500040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Latency p50/mean/p95 — 7 thành phần đo trên hệ thống đang chạy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Box 6"/>
          <p:cNvSpPr/>
          <p:nvPr/>
        </p:nvSpPr>
        <p:spPr>
          <a:xfrm>
            <a:off x="6309360" y="502920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Throughput — IDS /predict (4 luồng) + trần lý thuyết = 1000/mean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Box 1"/>
          <p:cNvSpPr/>
          <p:nvPr/>
        </p:nvSpPr>
        <p:spPr>
          <a:xfrm>
            <a:off x="594360" y="32004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Kết quả Benchmark — IDS API + Ryu Controller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Công cụ: benchmark_sdn.py — HTTP thật → ids_api.py:5000 + ryu_controller.py:8080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Box 4"/>
          <p:cNvSpPr/>
          <p:nvPr/>
        </p:nvSpPr>
        <p:spPr>
          <a:xfrm>
            <a:off x="777240" y="17647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Latency mean / p95 (200 mẫu, localhost)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IDS /predict (normal):  5,21 / 6,30 ms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IDS /predict (attack):  7,69 / 9,48 ms (+ vote + threat-score)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Ryu /ids/block · /ids/unblock:  1,11 / 2,29 ms — FlowMod round-trip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E2E detect→block:  5,57 / 6,05 ms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9"/>
          <p:cNvSpPr/>
          <p:nvPr/>
        </p:nvSpPr>
        <p:spPr>
          <a:xfrm>
            <a:off x="777240" y="39592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Throughput (4 luồng, 5 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10"/>
          <p:cNvSpPr/>
          <p:nvPr/>
        </p:nvSpPr>
        <p:spPr>
          <a:xfrm>
            <a:off x="1188720" y="43981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IDS /predict: 188 req/s — 0 lỗi / 942 req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Ryu REST trần ~900–1.160 req/s ⇒ controller không phải bottleneck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12"/>
          <p:cNvSpPr/>
          <p:nvPr/>
        </p:nvSpPr>
        <p:spPr>
          <a:xfrm>
            <a:off x="777240" y="52761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Nhận xét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13"/>
          <p:cNvSpPr/>
          <p:nvPr/>
        </p:nvSpPr>
        <p:spPr>
          <a:xfrm>
            <a:off x="1188720" y="57150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Overhead SDN ≈ 0,4 ms; bottleneck là XGBoost (~5 ms), không phải OpenFlow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14"/>
          <p:cNvSpPr/>
          <p:nvPr/>
        </p:nvSpPr>
        <p:spPr>
          <a:xfrm>
            <a:off x="594360" y="630936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777777"/>
                </a:solidFill>
                <a:latin typeface="Calibri"/>
              </a:rPr>
              <a:t>Đo bằng benchmark_sdn.py — IDS_BLOCK_VOTES=10, IDS_BLOCK_CONF=0.8 (cấu hình demo Part2)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Box 1"/>
          <p:cNvSpPr/>
          <p:nvPr/>
        </p:nvSpPr>
        <p:spPr>
          <a:xfrm>
            <a:off x="914400" y="1371600"/>
            <a:ext cx="1828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ectangle 2"/>
          <p:cNvSpPr/>
          <p:nvPr/>
        </p:nvSpPr>
        <p:spPr>
          <a:xfrm>
            <a:off x="914400" y="2560320"/>
            <a:ext cx="1033236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9" name="TextBox 3"/>
          <p:cNvSpPr/>
          <p:nvPr/>
        </p:nvSpPr>
        <p:spPr>
          <a:xfrm>
            <a:off x="914400" y="2743200"/>
            <a:ext cx="1005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Kết luận &amp; Hướng phát triển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Kết luận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Đã xây dựng hệ thống IDS realtime cho mạng IoT/MQTT trên nền tảng SDN: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4"/>
          <p:cNvSpPr/>
          <p:nvPr/>
        </p:nvSpPr>
        <p:spPr>
          <a:xfrm>
            <a:off x="1188720" y="17647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Model XGBoost v5 — 16 features, 6 classes, test accuracy 83.2%, F1 83.8%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IDS API với Threat Score — xử lý concurrent attack từ nhiều IP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6"/>
          <p:cNvSpPr/>
          <p:nvPr/>
        </p:nvSpPr>
        <p:spPr>
          <a:xfrm>
            <a:off x="1188720" y="26427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Ryu SDN controller — block tự động ở data plane, không cần human intervention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Mininet topology — 10 nodes, MQTT broker, port mirroring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8"/>
          <p:cNvSpPr/>
          <p:nvPr/>
        </p:nvSpPr>
        <p:spPr>
          <a:xfrm>
            <a:off x="777240" y="352044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3 kịch bản tấn công kiểm chứng: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9"/>
          <p:cNvSpPr/>
          <p:nvPr/>
        </p:nvSpPr>
        <p:spPr>
          <a:xfrm>
            <a:off x="1188720" y="395928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Đơn lẻ (5 loại) — kiểm tra từng classifier riêng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10"/>
          <p:cNvSpPr/>
          <p:nvPr/>
        </p:nvSpPr>
        <p:spPr>
          <a:xfrm>
            <a:off x="1188720" y="43981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Kill-chain (combined_attack.py) — kiểm tra vote/score dưới multi-label transition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Multi-attacker — kiểm tra concurrent IP processing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12"/>
          <p:cNvSpPr/>
          <p:nvPr/>
        </p:nvSpPr>
        <p:spPr>
          <a:xfrm>
            <a:off x="777240" y="52761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Hệ thống hoạt động end-to-end, block thành công trong kịch bản demo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Box 1"/>
          <p:cNvSpPr/>
          <p:nvPr/>
        </p:nvSpPr>
        <p:spPr>
          <a:xfrm>
            <a:off x="594360" y="32004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Calibri"/>
              </a:rPr>
              <a:t>Hướng phát triển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Rectangle 2"/>
          <p:cNvSpPr/>
          <p:nvPr/>
        </p:nvSpPr>
        <p:spPr>
          <a:xfrm>
            <a:off x="594360" y="1143000"/>
            <a:ext cx="11091240" cy="122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4" name="TextBox 3"/>
          <p:cNvSpPr/>
          <p:nvPr/>
        </p:nvSpPr>
        <p:spPr>
          <a:xfrm>
            <a:off x="777240" y="132588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Model: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Box 4"/>
          <p:cNvSpPr/>
          <p:nvPr/>
        </p:nvSpPr>
        <p:spPr>
          <a:xfrm>
            <a:off x="1188720" y="17647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Thử LSTM / Transformer để khai thác temporal sequence của packets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Box 5"/>
          <p:cNvSpPr/>
          <p:nvPr/>
        </p:nvSpPr>
        <p:spPr>
          <a:xfrm>
            <a:off x="1188720" y="22035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Online learning — cập nhật model khi gặp pattern mới (concept drift)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6"/>
          <p:cNvSpPr/>
          <p:nvPr/>
        </p:nvSpPr>
        <p:spPr>
          <a:xfrm>
            <a:off x="777240" y="264276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Hệ thống: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7"/>
          <p:cNvSpPr/>
          <p:nvPr/>
        </p:nvSpPr>
        <p:spPr>
          <a:xfrm>
            <a:off x="1188720" y="30816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Triển khai multi-controller (ONOS/ODL) với failover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8"/>
          <p:cNvSpPr/>
          <p:nvPr/>
        </p:nvSpPr>
        <p:spPr>
          <a:xfrm>
            <a:off x="1188720" y="352044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Tích hợp TLS cho MQTT broker — decrypt trước khi IDS phân tích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9"/>
          <p:cNvSpPr/>
          <p:nvPr/>
        </p:nvSpPr>
        <p:spPr>
          <a:xfrm>
            <a:off x="1188720" y="395928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Dashboard realtime — visualize threat score, block events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10"/>
          <p:cNvSpPr/>
          <p:nvPr/>
        </p:nvSpPr>
        <p:spPr>
          <a:xfrm>
            <a:off x="777240" y="4398120"/>
            <a:ext cx="1078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—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Đánh giá: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11"/>
          <p:cNvSpPr/>
          <p:nvPr/>
        </p:nvSpPr>
        <p:spPr>
          <a:xfrm>
            <a:off x="1188720" y="483732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Test trên traffic thực (không phải Mininet) — kiểm tra false positive rate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Box 12"/>
          <p:cNvSpPr/>
          <p:nvPr/>
        </p:nvSpPr>
        <p:spPr>
          <a:xfrm>
            <a:off x="1188720" y="527616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Benchmark latency ở packet rate cao (&gt;10k pkt/s)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Box 13"/>
          <p:cNvSpPr/>
          <p:nvPr/>
        </p:nvSpPr>
        <p:spPr>
          <a:xfrm>
            <a:off x="1188720" y="5715000"/>
            <a:ext cx="10378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· Adversarial testing — kẻ tấn công biết model và cố gắng né tránh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Box 1"/>
          <p:cNvSpPr/>
          <p:nvPr/>
        </p:nvSpPr>
        <p:spPr>
          <a:xfrm>
            <a:off x="914400" y="2194560"/>
            <a:ext cx="1005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Cảm ơn đã lắng nghe.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Rectangle 2"/>
          <p:cNvSpPr/>
          <p:nvPr/>
        </p:nvSpPr>
        <p:spPr>
          <a:xfrm>
            <a:off x="914400" y="3749040"/>
            <a:ext cx="5486040" cy="12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TextBox 3"/>
          <p:cNvSpPr/>
          <p:nvPr/>
        </p:nvSpPr>
        <p:spPr>
          <a:xfrm>
            <a:off x="914400" y="402336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i="1" lang="en-US" sz="1500" spc="-1" strike="noStrike">
                <a:solidFill>
                  <a:srgbClr val="aaaaaa"/>
                </a:solidFill>
                <a:latin typeface="Calibri"/>
              </a:rPr>
              <a:t>Source code: github.com/SDN--IoT-IDS-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pc="-1" strike="noStrike">
                <a:solidFill>
                  <a:srgbClr val="aaaaaa"/>
                </a:solidFill>
                <a:latin typeface="Calibri"/>
              </a:rPr>
              <a:t>Dataset: MQTTset (Kaggle)  ·  Model: XGBoost v5  ·  Controller: Ryu 4.x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2026-05-04T23:50:25Z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